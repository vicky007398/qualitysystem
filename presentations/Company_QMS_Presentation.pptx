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Assigned shift incharge is the primary reviewer. Administrators can review any pending report. Approved and rejected records are locked. Rejection is a final outcome, distinct from return for correction. Account management belongs to the separate Super User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Field counts refer to restored definitions from vicky007398/qms, original commit 6482e61968efeda735fca60c23b450f0569fec33. Qualitysystem restore commit 819985b. Gel: five samples. Ribbon: six tracks, front/back, 16 positions, seven peaks. Adhesion: four readings per group. Busbar: 16 readings per enabled interconnector. These counts describe the shipped app, not measured customer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Positioning is based on verified product capabilities. Time savings, error reductions, audit outcomes, and ROI should be measured during a customer pilot. No unverified best-in-market ranking or numerical savings claim is made.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2DD4BF"/>
                </a:solidFill>
                <a:latin typeface="Arial"/>
              </a:defRPr>
            </a:pPr>
            <a:r>
              <a:t>COMPANY QMS  /  DIGITAL CHECKSHEETS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400" b="1">
                <a:solidFill>
                  <a:srgbClr val="F1F5F9"/>
                </a:solidFill>
                <a:latin typeface="Arial"/>
              </a:defRPr>
            </a:pPr>
            <a:r>
              <a:t>Your checksheet. Upgraded.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0AEC2"/>
                </a:solidFill>
                <a:latin typeface="Arial"/>
              </a:defRPr>
            </a:pPr>
            <a:r>
              <a:t>COMPANY QMS  •  IPQC + CTQ checksheets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0AEC2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4000" b="1">
                <a:solidFill>
                  <a:srgbClr val="F1F5F9"/>
                </a:solidFill>
                <a:latin typeface="Arial"/>
              </a:defRPr>
            </a:pPr>
            <a:r>
              <a:t>From handwritten entries</a:t>
            </a:r>
          </a:p>
          <a:p>
            <a:pPr>
              <a:spcAft>
                <a:spcPts val="900"/>
              </a:spcAft>
              <a:defRPr sz="4000" b="1">
                <a:solidFill>
                  <a:srgbClr val="F1F5F9"/>
                </a:solidFill>
                <a:latin typeface="Arial"/>
              </a:defRPr>
            </a:pPr>
            <a:r>
              <a:t>to traceable quality records.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673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A0AEC2"/>
                </a:solidFill>
                <a:latin typeface="Arial"/>
              </a:defRPr>
            </a:pPr>
            <a:r>
              <a:t>Enter clearly. Calculate automatically. Review with confidence.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983480"/>
            <a:ext cx="10881360" cy="713232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13892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2DD4BF"/>
                </a:solidFill>
                <a:latin typeface="Arial"/>
              </a:defRPr>
            </a:pPr>
            <a:r>
              <a:t>Original fields  •  Guided entry  •  Approval workflow  •  PDF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2DD4BF"/>
                </a:solidFill>
                <a:latin typeface="Arial"/>
              </a:defRPr>
            </a:pPr>
            <a:r>
              <a:t>DIGITAL QUALITY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400" b="1">
                <a:solidFill>
                  <a:srgbClr val="F1F5F9"/>
                </a:solidFill>
                <a:latin typeface="Arial"/>
              </a:defRPr>
            </a:pPr>
            <a:r>
              <a:t>Keep the checksheet. Remove the friction.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0AEC2"/>
                </a:solidFill>
                <a:latin typeface="Arial"/>
              </a:defRPr>
            </a:pPr>
            <a:r>
              <a:t>COMPANY QMS  •  IPQC + CTQ checksheets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0AEC2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3474720" cy="214884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5856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2DD4BF"/>
                </a:solidFill>
                <a:latin typeface="Arial"/>
              </a:defRPr>
            </a:pPr>
            <a:r>
              <a:t>Guided entry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9864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A0AEC2"/>
                </a:solidFill>
                <a:latin typeface="Arial"/>
              </a:defRPr>
            </a:pPr>
            <a:r>
              <a:t>Work stage by stage.</a:t>
            </a:r>
          </a:p>
          <a:p>
            <a:pPr>
              <a:spcAft>
                <a:spcPts val="900"/>
              </a:spcAft>
              <a:defRPr sz="1900" b="0">
                <a:solidFill>
                  <a:srgbClr val="A0AEC2"/>
                </a:solidFill>
                <a:latin typeface="Arial"/>
              </a:defRPr>
            </a:pPr>
            <a:r>
              <a:t>Save drafts during the shift.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2057400"/>
            <a:ext cx="3474720" cy="214884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25856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38BDF8"/>
                </a:solidFill>
                <a:latin typeface="Arial"/>
              </a:defRPr>
            </a:pPr>
            <a:r>
              <a:t>Automatic calculations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89864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A0AEC2"/>
                </a:solidFill>
                <a:latin typeface="Arial"/>
              </a:defRPr>
            </a:pPr>
            <a:r>
              <a:t>CTQ averages and results</a:t>
            </a:r>
          </a:p>
          <a:p>
            <a:pPr>
              <a:spcAft>
                <a:spcPts val="900"/>
              </a:spcAft>
              <a:defRPr sz="1900" b="0">
                <a:solidFill>
                  <a:srgbClr val="A0AEC2"/>
                </a:solidFill>
                <a:latin typeface="Arial"/>
              </a:defRPr>
            </a:pPr>
            <a:r>
              <a:t>calculated from readings.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2057400"/>
            <a:ext cx="3474720" cy="214884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1896" y="225856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2DD4BF"/>
                </a:solidFill>
                <a:latin typeface="Arial"/>
              </a:defRPr>
            </a:pPr>
            <a:r>
              <a:t>Visible approvals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6" y="289864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A0AEC2"/>
                </a:solidFill>
                <a:latin typeface="Arial"/>
              </a:defRPr>
            </a:pPr>
            <a:r>
              <a:t>Know what is pending,</a:t>
            </a:r>
          </a:p>
          <a:p>
            <a:pPr>
              <a:spcAft>
                <a:spcPts val="900"/>
              </a:spcAft>
              <a:defRPr sz="1900" b="0">
                <a:solidFill>
                  <a:srgbClr val="A0AEC2"/>
                </a:solidFill>
                <a:latin typeface="Arial"/>
              </a:defRPr>
            </a:pPr>
            <a:r>
              <a:t>returned, or approved.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92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1F5F9"/>
                </a:solidFill>
                <a:latin typeface="Arial"/>
              </a:defRPr>
            </a:pPr>
            <a:r>
              <a:t>Less chasing. Clearer records. Better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2DD4BF"/>
                </a:solidFill>
                <a:latin typeface="Arial"/>
              </a:defRPr>
            </a:pPr>
            <a:r>
              <a:t>HOW THE CHECKSHEET MOVES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400" b="1">
                <a:solidFill>
                  <a:srgbClr val="F1F5F9"/>
                </a:solidFill>
                <a:latin typeface="Arial"/>
              </a:defRPr>
            </a:pPr>
            <a:r>
              <a:t>A simple flow. Clear accountability.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0AEC2"/>
                </a:solidFill>
                <a:latin typeface="Arial"/>
              </a:defRPr>
            </a:pPr>
            <a:r>
              <a:t>COMPANY QMS  •  IPQC + CTQ checksheets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0AEC2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291840" cy="155448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331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2DD4BF"/>
                </a:solidFill>
                <a:latin typeface="Arial"/>
              </a:defRPr>
            </a:pPr>
            <a:r>
              <a:t>1  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83464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F1F5F9"/>
                </a:solidFill>
                <a:latin typeface="Arial"/>
              </a:defRPr>
            </a:pPr>
            <a:r>
              <a:t>Fill checksheet</a:t>
            </a:r>
          </a:p>
          <a:p>
            <a:pPr>
              <a:spcAft>
                <a:spcPts val="900"/>
              </a:spcAft>
              <a:defRPr sz="2000" b="0">
                <a:solidFill>
                  <a:srgbClr val="F1F5F9"/>
                </a:solidFill>
                <a:latin typeface="Arial"/>
              </a:defRPr>
            </a:pPr>
            <a:r>
              <a:t>Save draft → Submit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103120"/>
            <a:ext cx="3291840" cy="155448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2331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2DD4BF"/>
                </a:solidFill>
                <a:latin typeface="Arial"/>
              </a:defRPr>
            </a:pPr>
            <a:r>
              <a:t>2  SHIFT INCHARGE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83464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F1F5F9"/>
                </a:solidFill>
                <a:latin typeface="Arial"/>
              </a:defRPr>
            </a:pPr>
            <a:r>
              <a:t>Verify readings</a:t>
            </a:r>
          </a:p>
          <a:p>
            <a:pPr>
              <a:spcAft>
                <a:spcPts val="900"/>
              </a:spcAft>
              <a:defRPr sz="2000" b="0">
                <a:solidFill>
                  <a:srgbClr val="F1F5F9"/>
                </a:solidFill>
                <a:latin typeface="Arial"/>
              </a:defRPr>
            </a:pPr>
            <a:r>
              <a:t>Approve or return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103120"/>
            <a:ext cx="3291840" cy="155448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2331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2DD4BF"/>
                </a:solidFill>
                <a:latin typeface="Arial"/>
              </a:defRPr>
            </a:pPr>
            <a:r>
              <a:t>3  SAVED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283464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F1F5F9"/>
                </a:solidFill>
                <a:latin typeface="Arial"/>
              </a:defRPr>
            </a:pPr>
            <a:r>
              <a:t>Approved checksheet</a:t>
            </a:r>
          </a:p>
          <a:p>
            <a:pPr>
              <a:spcAft>
                <a:spcPts val="900"/>
              </a:spcAft>
              <a:defRPr sz="2000" b="0">
                <a:solidFill>
                  <a:srgbClr val="F1F5F9"/>
                </a:solidFill>
                <a:latin typeface="Arial"/>
              </a:defRPr>
            </a:pPr>
            <a:r>
              <a:t>PDF + review history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023360" y="2788920"/>
            <a:ext cx="292608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818120" y="2788920"/>
            <a:ext cx="292608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" y="4069080"/>
            <a:ext cx="10287000" cy="59436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178808"/>
            <a:ext cx="9829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A0AEC2"/>
                </a:solidFill>
                <a:latin typeface="Arial"/>
              </a:defRPr>
            </a:pPr>
            <a:r>
              <a:t>RETURNED?  Operator corrects the entry and resubmits.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29200"/>
            <a:ext cx="10881360" cy="82296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175504"/>
            <a:ext cx="10378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8BDF8"/>
                </a:solidFill>
                <a:latin typeface="Arial"/>
              </a:defRPr>
            </a:pPr>
            <a:r>
              <a:t>ADMIN  Monitors all records and can also approve, return, or reject pending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2DD4BF"/>
                </a:solidFill>
                <a:latin typeface="Arial"/>
              </a:defRPr>
            </a:pPr>
            <a:r>
              <a:t>THE PRACTICAL DIFFERENCE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400" b="1">
                <a:solidFill>
                  <a:srgbClr val="F1F5F9"/>
                </a:solidFill>
                <a:latin typeface="Arial"/>
              </a:defRPr>
            </a:pPr>
            <a:r>
              <a:t>Paper checksheets vs Company QMS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0AEC2"/>
                </a:solidFill>
                <a:latin typeface="Arial"/>
              </a:defRPr>
            </a:pPr>
            <a:r>
              <a:t>COMPANY QMS  •  IPQC + CTQ checksheets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0AEC2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A0AEC2"/>
                </a:solidFill>
                <a:latin typeface="Arial"/>
              </a:defRPr>
            </a:pPr>
            <a: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82880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A0AEC2"/>
                </a:solidFill>
                <a:latin typeface="Arial"/>
              </a:defRPr>
            </a:pPr>
            <a:r>
              <a:t>PAPER CHECKSHEET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8288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2DD4BF"/>
                </a:solidFill>
                <a:latin typeface="Arial"/>
              </a:defRPr>
            </a:pPr>
            <a:r>
              <a:t>COMPANY QMS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59152"/>
            <a:ext cx="10881360" cy="512064"/>
          </a:xfrm>
          <a:prstGeom prst="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957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Entries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3957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A0AEC2"/>
                </a:solidFill>
                <a:latin typeface="Arial"/>
              </a:defRPr>
            </a:pPr>
            <a:r>
              <a:t>Handwritten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395728"/>
            <a:ext cx="3886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1F5F9"/>
                </a:solidFill>
                <a:latin typeface="Arial"/>
              </a:defRPr>
            </a:pPr>
            <a:r>
              <a:t>Structured fields + required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26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Calculations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926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A0AEC2"/>
                </a:solidFill>
                <a:latin typeface="Arial"/>
              </a:defRPr>
            </a:pPr>
            <a:r>
              <a:t>Manual working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2926080"/>
            <a:ext cx="3886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1F5F9"/>
                </a:solidFill>
                <a:latin typeface="Arial"/>
              </a:defRPr>
            </a:pPr>
            <a:r>
              <a:t>Automatic CTQ calculations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19856"/>
            <a:ext cx="10881360" cy="512064"/>
          </a:xfrm>
          <a:prstGeom prst="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4564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4564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A0AEC2"/>
                </a:solidFill>
                <a:latin typeface="Arial"/>
              </a:defRPr>
            </a:pPr>
            <a:r>
              <a:t>Physical handover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456432"/>
            <a:ext cx="3886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1F5F9"/>
                </a:solidFill>
                <a:latin typeface="Arial"/>
              </a:defRPr>
            </a:pPr>
            <a:r>
              <a:t>Assigned review + visible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986783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Corrections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3986783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A0AEC2"/>
                </a:solidFill>
                <a:latin typeface="Arial"/>
              </a:defRPr>
            </a:pPr>
            <a:r>
              <a:t>Notes and rework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3986783"/>
            <a:ext cx="3886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1F5F9"/>
                </a:solidFill>
                <a:latin typeface="Arial"/>
              </a:defRPr>
            </a:pPr>
            <a:r>
              <a:t>Return, correct, and resubmit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480559"/>
            <a:ext cx="10881360" cy="512064"/>
          </a:xfrm>
          <a:prstGeom prst="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51713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Record retrieval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51713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A0AEC2"/>
                </a:solidFill>
                <a:latin typeface="Arial"/>
              </a:defRPr>
            </a:pPr>
            <a:r>
              <a:t>Find the sheet or 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4517136"/>
            <a:ext cx="3886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1F5F9"/>
                </a:solidFill>
                <a:latin typeface="Arial"/>
              </a:defRPr>
            </a:pPr>
            <a:r>
              <a:t>Filter records + download PDFs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04748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Traceability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50474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A0AEC2"/>
                </a:solidFill>
                <a:latin typeface="Arial"/>
              </a:defRPr>
            </a:pPr>
            <a:r>
              <a:t>Signatures and paper trail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5047488"/>
            <a:ext cx="3886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1F5F9"/>
                </a:solidFill>
                <a:latin typeface="Arial"/>
              </a:defRPr>
            </a:pPr>
            <a:r>
              <a:t>Recorded actions + review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2DD4BF"/>
                </a:solidFill>
                <a:latin typeface="Arial"/>
              </a:defRPr>
            </a:pPr>
            <a:r>
              <a:t>DIGITAL QUALITY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400" b="1">
                <a:solidFill>
                  <a:srgbClr val="F1F5F9"/>
                </a:solidFill>
                <a:latin typeface="Arial"/>
              </a:defRPr>
            </a:pPr>
            <a:r>
              <a:t>Full forms. Familiar process. Better visibility.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0AEC2"/>
                </a:solidFill>
                <a:latin typeface="Arial"/>
              </a:defRPr>
            </a:pPr>
            <a:r>
              <a:t>COMPANY QMS  •  IPQC + CTQ checksheets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0AEC2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303520" cy="214884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2DD4BF"/>
                </a:solidFill>
                <a:latin typeface="Arial"/>
              </a:defRPr>
            </a:pPr>
            <a:r>
              <a:t>Full IPQC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52928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A0AEC2"/>
                </a:solidFill>
                <a:latin typeface="Arial"/>
              </a:defRPr>
            </a:pPr>
            <a:r>
              <a:t>36 process stages</a:t>
            </a:r>
          </a:p>
          <a:p>
            <a:pPr>
              <a:spcAft>
                <a:spcPts val="900"/>
              </a:spcAft>
              <a:defRPr sz="1900" b="0">
                <a:solidFill>
                  <a:srgbClr val="A0AEC2"/>
                </a:solidFill>
                <a:latin typeface="Arial"/>
              </a:defRPr>
            </a:pPr>
            <a:r>
              <a:t>166 parameters • 860 observation fields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011680"/>
            <a:ext cx="5303520" cy="214884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21284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38BDF8"/>
                </a:solidFill>
                <a:latin typeface="Arial"/>
              </a:defRPr>
            </a:pPr>
            <a:r>
              <a:t>Complete CTQ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852928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A0AEC2"/>
                </a:solidFill>
                <a:latin typeface="Arial"/>
              </a:defRPr>
            </a:pPr>
            <a:r>
              <a:t>Gel • Ribbon Peel</a:t>
            </a:r>
          </a:p>
          <a:p>
            <a:pPr>
              <a:spcAft>
                <a:spcPts val="900"/>
              </a:spcAft>
              <a:defRPr sz="1900" b="0">
                <a:solidFill>
                  <a:srgbClr val="A0AEC2"/>
                </a:solidFill>
                <a:latin typeface="Arial"/>
              </a:defRPr>
            </a:pPr>
            <a:r>
              <a:t>Adhesion • Busbar Peel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72000"/>
            <a:ext cx="10881360" cy="96012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773168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F1F5F9"/>
                </a:solidFill>
                <a:latin typeface="Arial"/>
              </a:defRPr>
            </a:pPr>
            <a:r>
              <a:t>Original fields, criteria, tables, and calculations.</a:t>
            </a:r>
          </a:p>
          <a:p>
            <a:pPr>
              <a:spcAft>
                <a:spcPts val="900"/>
              </a:spcAft>
              <a:defRPr sz="2100" b="1">
                <a:solidFill>
                  <a:srgbClr val="F1F5F9"/>
                </a:solidFill>
                <a:latin typeface="Arial"/>
              </a:defRPr>
            </a:pPr>
            <a:r>
              <a:t>Generic company branding. A modern interface.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2DD4BF"/>
                </a:solidFill>
                <a:latin typeface="Arial"/>
              </a:defRPr>
            </a:pPr>
            <a:r>
              <a:t>START WITH A FOCUSED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400" b="1">
                <a:solidFill>
                  <a:srgbClr val="F1F5F9"/>
                </a:solidFill>
                <a:latin typeface="Arial"/>
              </a:defRPr>
            </a:pPr>
            <a:r>
              <a:t>See the difference on your own 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0AEC2"/>
                </a:solidFill>
                <a:latin typeface="Arial"/>
              </a:defRPr>
            </a:pPr>
            <a:r>
              <a:t>COMPANY QMS  •  IPQC + CTQ checksheets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0AEC2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F1F5F9"/>
                </a:solidFill>
                <a:latin typeface="Arial"/>
              </a:defRPr>
            </a:pPr>
            <a:r>
              <a:t>One line. One shift. One clear comparison.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3474720" cy="214884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7296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2DD4BF"/>
                </a:solidFill>
                <a:latin typeface="Arial"/>
              </a:defRPr>
            </a:pPr>
            <a:r>
              <a:t>Try the full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1304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A0AEC2"/>
                </a:solidFill>
                <a:latin typeface="Arial"/>
              </a:defRPr>
            </a:pPr>
            <a:r>
              <a:t>Entry → Review → PDF</a:t>
            </a:r>
          </a:p>
          <a:p>
            <a:pPr>
              <a:spcAft>
                <a:spcPts val="900"/>
              </a:spcAft>
              <a:defRPr sz="1900" b="0">
                <a:solidFill>
                  <a:srgbClr val="A0AEC2"/>
                </a:solidFill>
                <a:latin typeface="Arial"/>
              </a:defRPr>
            </a:pPr>
            <a:r>
              <a:t>Use the familiar checksheet.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2971800"/>
            <a:ext cx="3474720" cy="214884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317296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38BDF8"/>
                </a:solidFill>
                <a:latin typeface="Arial"/>
              </a:defRPr>
            </a:pPr>
            <a:r>
              <a:t>Measure the benefit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381304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A0AEC2"/>
                </a:solidFill>
                <a:latin typeface="Arial"/>
              </a:defRPr>
            </a:pPr>
            <a:r>
              <a:t>Entry completeness</a:t>
            </a:r>
          </a:p>
          <a:p>
            <a:pPr>
              <a:spcAft>
                <a:spcPts val="900"/>
              </a:spcAft>
              <a:defRPr sz="1900" b="0">
                <a:solidFill>
                  <a:srgbClr val="A0AEC2"/>
                </a:solidFill>
                <a:latin typeface="Arial"/>
              </a:defRPr>
            </a:pPr>
            <a:r>
              <a:t>Approval and retrieval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2971800"/>
            <a:ext cx="3474720" cy="214884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317296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2DD4BF"/>
                </a:solidFill>
                <a:latin typeface="Arial"/>
              </a:defRPr>
            </a:pPr>
            <a:r>
              <a:t>Decide with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381304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A0AEC2"/>
                </a:solidFill>
                <a:latin typeface="Arial"/>
              </a:defRPr>
            </a:pPr>
            <a:r>
              <a:t>Gather team feedback.</a:t>
            </a:r>
          </a:p>
          <a:p>
            <a:pPr>
              <a:spcAft>
                <a:spcPts val="900"/>
              </a:spcAft>
              <a:defRPr sz="1900" b="0">
                <a:solidFill>
                  <a:srgbClr val="A0AEC2"/>
                </a:solidFill>
                <a:latin typeface="Arial"/>
              </a:defRPr>
            </a:pPr>
            <a:r>
              <a:t>Expand after pilot review.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321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2DD4BF"/>
                </a:solidFill>
                <a:latin typeface="Arial"/>
              </a:defRPr>
            </a:pPr>
            <a:r>
              <a:t>Make quality records easier to enter, review, and retrieve.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